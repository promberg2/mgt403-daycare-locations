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B6CD0"/>
                </a:solidFill>
                <a:latin typeface="Segoe UI Semibold"/>
              </a:rPr>
              <a:t>01  </a:t>
            </a:r>
            <a:r>
              <a:rPr sz="1100" b="0">
                <a:solidFill>
                  <a:srgbClr val="6E6E73"/>
                </a:solidFill>
                <a:latin typeface="Segoe UI Semibold"/>
              </a:rPr>
              <a:t>WHERE SHOULD WE OPEN OUR NEXT PRESCHOOL?</a:t>
            </a:r>
          </a:p>
        </p:txBody>
      </p:sp>
      <p:sp>
        <p:nvSpPr>
          <p:cNvPr id="3" name="Oval 2"/>
          <p:cNvSpPr/>
          <p:nvPr/>
        </p:nvSpPr>
        <p:spPr>
          <a:xfrm>
            <a:off x="10436047" y="457200"/>
            <a:ext cx="91440" cy="91440"/>
          </a:xfrm>
          <a:prstGeom prst="ellipse">
            <a:avLst/>
          </a:prstGeom>
          <a:solidFill>
            <a:srgbClr val="2B6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7215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8383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39551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40719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1887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713232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0">
                <a:solidFill>
                  <a:srgbClr val="1D1D1F"/>
                </a:solidFill>
                <a:latin typeface="Segoe UI Semibold"/>
              </a:rPr>
              <a:t>Ten counties where parents are expected to pay 18–37% more than local costs predict, an advantage that has lasted since 2015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6291072"/>
            <a:ext cx="11094415" cy="0"/>
          </a:xfrm>
          <a:prstGeom prst="line">
            <a:avLst/>
          </a:prstGeom>
          <a:ln w="9525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6382512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6868B"/>
                </a:solidFill>
                <a:latin typeface="Segoe UI"/>
              </a:rPr>
              <a:t>MGT 403 Data Project · Carson Tavares, Lee Itzhaki, Vusala Suleymanova, Philipp Romberg. Sample: 998 metro counties (2022), prices 2015–2022. Premium = actual price vs. price predicted from childcare-worker wages and rents within the same state; expected premium = after typical fading (slide 5); bar = range from the uncertainty of the fading slope.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543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868B"/>
                </a:solidFill>
                <a:latin typeface="Segoe UI"/>
              </a:rPr>
              <a:t>1</a:t>
            </a:r>
          </a:p>
        </p:txBody>
      </p:sp>
      <p:pic>
        <p:nvPicPr>
          <p:cNvPr id="13" name="Picture 12" descr="yale_som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6345936"/>
            <a:ext cx="26822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1828800"/>
            <a:ext cx="543290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6CD0"/>
                </a:solidFill>
                <a:latin typeface="Segoe UI Semibold"/>
              </a:rPr>
              <a:t>TOP 10 · PRICE PREMIUM ABOVE WHAT LOCAL COSTS PREDICT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147" y="1828800"/>
            <a:ext cx="543290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6CD0"/>
                </a:solidFill>
                <a:latin typeface="Segoe UI Semibold"/>
              </a:rPr>
              <a:t>LOCATION · 1, 2, 4 AND 6 FORM ONE MARKET: NORTHERN VIRGINIA</a:t>
            </a:r>
          </a:p>
        </p:txBody>
      </p:sp>
      <p:pic>
        <p:nvPicPr>
          <p:cNvPr id="16" name="Picture 15" descr="deck_F1_top10_premi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21408"/>
            <a:ext cx="5432907" cy="3932912"/>
          </a:xfrm>
          <a:prstGeom prst="rect">
            <a:avLst/>
          </a:prstGeom>
        </p:spPr>
      </p:pic>
      <p:pic>
        <p:nvPicPr>
          <p:cNvPr id="17" name="Picture 16" descr="deck_F1b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147" y="2121408"/>
            <a:ext cx="5432907" cy="3932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B6CD0"/>
                </a:solidFill>
                <a:latin typeface="Segoe UI Semibold"/>
              </a:rPr>
              <a:t>02  </a:t>
            </a:r>
            <a:r>
              <a:rPr sz="1100" b="0">
                <a:solidFill>
                  <a:srgbClr val="6E6E73"/>
                </a:solidFill>
                <a:latin typeface="Segoe UI Semibold"/>
              </a:rPr>
              <a:t>FROM MODEL “C” TO OUR PREDICTION</a:t>
            </a:r>
          </a:p>
        </p:txBody>
      </p:sp>
      <p:sp>
        <p:nvSpPr>
          <p:cNvPr id="3" name="Oval 2"/>
          <p:cNvSpPr/>
          <p:nvPr/>
        </p:nvSpPr>
        <p:spPr>
          <a:xfrm>
            <a:off x="10436047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7215" y="457200"/>
            <a:ext cx="91440" cy="91440"/>
          </a:xfrm>
          <a:prstGeom prst="ellipse">
            <a:avLst/>
          </a:prstGeom>
          <a:solidFill>
            <a:srgbClr val="2B6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8383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39551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40719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1887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713232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0">
                <a:solidFill>
                  <a:srgbClr val="1D1D1F"/>
                </a:solidFill>
                <a:latin typeface="Segoe UI Semibold"/>
              </a:rPr>
              <a:t>Comparing each county with its own state lifts explained price variation from 61% to 81% and reveals hidden premiums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6291072"/>
            <a:ext cx="11094415" cy="0"/>
          </a:xfrm>
          <a:prstGeom prst="line">
            <a:avLst/>
          </a:prstGeom>
          <a:ln w="9525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6382512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6868B"/>
                </a:solidFill>
                <a:latin typeface="Segoe UI"/>
              </a:rPr>
              <a:t>Model “c” (pre-analysis): price = a + b₁·wage + b₂·rent. Final: log(price) = a + b₁·log(wage) + b₂·log(rent) + state dummies, estimated per year 2015–2022. 2022: N = 998, 44 states/DC, SEs clustered by metro area. NDCP price, BLS OEWS childcare-worker wage, ACS median gross rent, 2022 $. Premium = residual. Appendix B–C.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543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868B"/>
                </a:solidFill>
                <a:latin typeface="Segoe UI"/>
              </a:rPr>
              <a:t>2</a:t>
            </a:r>
          </a:p>
        </p:txBody>
      </p:sp>
      <p:pic>
        <p:nvPicPr>
          <p:cNvPr id="13" name="Picture 12" descr="yale_som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6345936"/>
            <a:ext cx="26822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1828800"/>
            <a:ext cx="354573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56300"/>
                </a:solidFill>
                <a:latin typeface="Segoe UI Semibold"/>
              </a:rPr>
              <a:t>STEP 1 · MODEL “C”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03120"/>
            <a:ext cx="35457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D1D1F"/>
                </a:solidFill>
                <a:latin typeface="Segoe UI Semibold"/>
              </a:rPr>
              <a:t>Price = −88 + 7.09·wage + 5.91·rent</a:t>
            </a:r>
          </a:p>
        </p:txBody>
      </p:sp>
      <p:pic>
        <p:nvPicPr>
          <p:cNvPr id="16" name="Picture 15" descr="deck_F2c_model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68880"/>
            <a:ext cx="3545738" cy="32012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5724144"/>
            <a:ext cx="354573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E73"/>
                </a:solidFill>
                <a:latin typeface="Segoe UI"/>
              </a:rPr>
              <a:t>Above the line, parents pay more than costs justify. Here Hall and Sullivan look like ordinary markets.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2978" y="1828800"/>
            <a:ext cx="354573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6CD0"/>
                </a:solidFill>
                <a:latin typeface="Segoe UI Semibold"/>
              </a:rPr>
              <a:t>STEP 2 · WITHIN STATE, IN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2978" y="2103120"/>
            <a:ext cx="35457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D1D1F"/>
                </a:solidFill>
                <a:latin typeface="Segoe UI Semibold"/>
              </a:rPr>
              <a:t>+10% wage → +3.6%   ·   +10% rent → +5.2%</a:t>
            </a:r>
          </a:p>
        </p:txBody>
      </p:sp>
      <p:pic>
        <p:nvPicPr>
          <p:cNvPr id="20" name="Picture 19" descr="deck_F3c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2978" y="2468880"/>
            <a:ext cx="3545738" cy="32012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322978" y="5724144"/>
            <a:ext cx="354573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E73"/>
                </a:solidFill>
                <a:latin typeface="Segoe UI"/>
              </a:rPr>
              <a:t>Against their own state, all ten counties lie above the line.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7316" y="1828800"/>
            <a:ext cx="3545738" cy="4224528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8484" y="1984248"/>
            <a:ext cx="314340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6CD0"/>
                </a:solidFill>
                <a:latin typeface="Segoe UI Semibold"/>
              </a:rPr>
              <a:t>WHY THE TWO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8484" y="2258568"/>
            <a:ext cx="314340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D1D1F"/>
                </a:solidFill>
                <a:latin typeface="Segoe UI Semibold"/>
              </a:rPr>
              <a:t>State dummies: </a:t>
            </a:r>
            <a:r>
              <a:rPr sz="950" b="0">
                <a:solidFill>
                  <a:srgbClr val="6E6E73"/>
                </a:solidFill>
                <a:latin typeface="Segoe UI"/>
              </a:rPr>
              <a:t>states set rate zones and staffing rules, so each county is compared with its own state.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1D1D1F"/>
                </a:solidFill>
                <a:latin typeface="Segoe UI Semibold"/>
              </a:rPr>
              <a:t>Logs: </a:t>
            </a:r>
            <a:r>
              <a:rPr sz="950" b="0">
                <a:solidFill>
                  <a:srgbClr val="6E6E73"/>
                </a:solidFill>
                <a:latin typeface="Segoe UI"/>
              </a:rPr>
              <a:t>the gap becomes a % premium; $50 means more in Tennessee than in SF.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98484" y="3310128"/>
          <a:ext cx="3140049" cy="13258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97280"/>
                <a:gridCol w="1024128"/>
                <a:gridCol w="1018641"/>
              </a:tblGrid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6E6E73"/>
                          </a:solidFill>
                          <a:latin typeface="Segoe UI Semibold"/>
                        </a:rPr>
                        <a:t>2022, N = 998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6E6E73"/>
                          </a:solidFill>
                          <a:latin typeface="Segoe UI Semibold"/>
                        </a:rPr>
                        <a:t>Model “c”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6E6E73"/>
                          </a:solidFill>
                          <a:latin typeface="Segoe UI Semibold"/>
                        </a:rPr>
                        <a:t>Final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D1D1F"/>
                          </a:solidFill>
                          <a:latin typeface="Segoe UI Semibold"/>
                        </a:rPr>
                        <a:t>Wage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7.09 </a:t>
                      </a:r>
                      <a:r>
                        <a:rPr sz="850">
                          <a:solidFill>
                            <a:srgbClr val="86868B"/>
                          </a:solidFill>
                          <a:latin typeface="Segoe UI"/>
                        </a:rPr>
                        <a:t>(0.58)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0.37 </a:t>
                      </a:r>
                      <a:r>
                        <a:rPr sz="850">
                          <a:solidFill>
                            <a:srgbClr val="86868B"/>
                          </a:solidFill>
                          <a:latin typeface="Segoe UI"/>
                        </a:rPr>
                        <a:t>(0.09)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D1D1F"/>
                          </a:solidFill>
                          <a:latin typeface="Segoe UI Semibold"/>
                        </a:rPr>
                        <a:t>Rent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5.91 </a:t>
                      </a:r>
                      <a:r>
                        <a:rPr sz="850">
                          <a:solidFill>
                            <a:srgbClr val="86868B"/>
                          </a:solidFill>
                          <a:latin typeface="Segoe UI"/>
                        </a:rPr>
                        <a:t>(0.92)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0.53 </a:t>
                      </a:r>
                      <a:r>
                        <a:rPr sz="850">
                          <a:solidFill>
                            <a:srgbClr val="86868B"/>
                          </a:solidFill>
                          <a:latin typeface="Segoe UI"/>
                        </a:rPr>
                        <a:t>(0.04)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D1D1F"/>
                          </a:solidFill>
                          <a:latin typeface="Segoe UI Semibold"/>
                        </a:rPr>
                        <a:t>State dummies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D1D1F"/>
                          </a:solidFill>
                          <a:latin typeface="Segoe UI"/>
                        </a:rPr>
                        <a:t>yes (43)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D1D1F"/>
                          </a:solidFill>
                          <a:latin typeface="Segoe UI Semibold"/>
                        </a:rPr>
                        <a:t>R²</a:t>
                      </a:r>
                    </a:p>
                  </a:txBody>
                  <a:tcPr marL="45720" marR="45720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D1D1F"/>
                          </a:solidFill>
                          <a:latin typeface="Segoe UI Semibold"/>
                        </a:rPr>
                        <a:t>0.61</a:t>
                      </a:r>
                    </a:p>
                  </a:txBody>
                  <a:tcPr marL="45720" marR="45720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D1D1F"/>
                          </a:solidFill>
                          <a:latin typeface="Segoe UI Semibold"/>
                        </a:rPr>
                        <a:t>0.81</a:t>
                      </a:r>
                    </a:p>
                  </a:txBody>
                  <a:tcPr marL="45720" marR="45720" marT="18288" marB="18288" anchor="ctr"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  <p:cxnSp>
        <p:nvCxnSpPr>
          <p:cNvPr id="26" name="Connector 25"/>
          <p:cNvCxnSpPr/>
          <p:nvPr/>
        </p:nvCxnSpPr>
        <p:spPr>
          <a:xfrm>
            <a:off x="8298484" y="3575304"/>
            <a:ext cx="3143402" cy="0"/>
          </a:xfrm>
          <a:prstGeom prst="line">
            <a:avLst/>
          </a:prstGeom>
          <a:ln w="9525">
            <a:solidFill>
              <a:srgbClr val="6E6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298484" y="3840480"/>
            <a:ext cx="3143402" cy="0"/>
          </a:xfrm>
          <a:prstGeom prst="line">
            <a:avLst/>
          </a:prstGeom>
          <a:ln w="635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298484" y="4105655"/>
            <a:ext cx="3143402" cy="0"/>
          </a:xfrm>
          <a:prstGeom prst="line">
            <a:avLst/>
          </a:prstGeom>
          <a:ln w="635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298484" y="4370832"/>
            <a:ext cx="3143402" cy="0"/>
          </a:xfrm>
          <a:prstGeom prst="line">
            <a:avLst/>
          </a:prstGeom>
          <a:ln w="635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98484" y="4636008"/>
            <a:ext cx="3143402" cy="0"/>
          </a:xfrm>
          <a:prstGeom prst="line">
            <a:avLst/>
          </a:prstGeom>
          <a:ln w="635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98484" y="4663440"/>
            <a:ext cx="314340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6868B"/>
                </a:solidFill>
                <a:latin typeface="Segoe UI"/>
              </a:rPr>
              <a:t>Model “c”: $/week per $1,000 wage, $100 rent. Final: % change in price per 1% change. (SE, clustered by metro.) Like for like in $: R² 0.61 → 0.80 with state effects; forecast error on unseen prices −14% (App. C).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8484" y="5138928"/>
            <a:ext cx="314340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6CD0"/>
                </a:solidFill>
                <a:latin typeface="Segoe UI Semibold"/>
              </a:rPr>
              <a:t>EXAMPLE: HALL, GA (RANK 9), 2022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8484" y="5394960"/>
            <a:ext cx="314340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E6E73"/>
                </a:solidFill>
                <a:latin typeface="Segoe UI"/>
              </a:rPr>
              <a:t>Parents pay </a:t>
            </a:r>
            <a:r>
              <a:rPr sz="950" b="0">
                <a:solidFill>
                  <a:srgbClr val="1D1D1F"/>
                </a:solidFill>
                <a:latin typeface="Segoe UI Semibold"/>
              </a:rPr>
              <a:t>$179/week.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6E6E73"/>
                </a:solidFill>
                <a:latin typeface="Segoe UI"/>
              </a:rPr>
              <a:t>Model “c” predicts </a:t>
            </a:r>
            <a:r>
              <a:rPr sz="950" b="0">
                <a:solidFill>
                  <a:srgbClr val="1D1D1F"/>
                </a:solidFill>
                <a:latin typeface="Segoe UI Semibold"/>
              </a:rPr>
              <a:t>$167</a:t>
            </a:r>
            <a:r>
              <a:rPr sz="950" b="0">
                <a:solidFill>
                  <a:srgbClr val="6E6E73"/>
                </a:solidFill>
                <a:latin typeface="Segoe UI"/>
              </a:rPr>
              <a:t>: +7%, looks ordinary.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6E6E73"/>
                </a:solidFill>
                <a:latin typeface="Segoe UI"/>
              </a:rPr>
              <a:t>Within Georgia: </a:t>
            </a:r>
            <a:r>
              <a:rPr sz="950" b="0">
                <a:solidFill>
                  <a:srgbClr val="1D1D1F"/>
                </a:solidFill>
                <a:latin typeface="Segoe UI Semibold"/>
              </a:rPr>
              <a:t>$138</a:t>
            </a:r>
            <a:r>
              <a:rPr sz="950" b="0">
                <a:solidFill>
                  <a:srgbClr val="6E6E73"/>
                </a:solidFill>
                <a:latin typeface="Segoe UI"/>
              </a:rPr>
              <a:t> predicted, so a </a:t>
            </a:r>
            <a:r>
              <a:rPr sz="950" b="0">
                <a:solidFill>
                  <a:srgbClr val="2B6CD0"/>
                </a:solidFill>
                <a:latin typeface="Segoe UI Semibold"/>
              </a:rPr>
              <a:t>+30% premium.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B6CD0"/>
                </a:solidFill>
                <a:latin typeface="Segoe UI Semibold"/>
              </a:rPr>
              <a:t>03  </a:t>
            </a:r>
            <a:r>
              <a:rPr sz="1100" b="0">
                <a:solidFill>
                  <a:srgbClr val="6E6E73"/>
                </a:solidFill>
                <a:latin typeface="Segoe UI Semibold"/>
              </a:rPr>
              <a:t>HOW WE SELECTED</a:t>
            </a:r>
          </a:p>
        </p:txBody>
      </p:sp>
      <p:sp>
        <p:nvSpPr>
          <p:cNvPr id="3" name="Oval 2"/>
          <p:cNvSpPr/>
          <p:nvPr/>
        </p:nvSpPr>
        <p:spPr>
          <a:xfrm>
            <a:off x="10436047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7215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8383" y="457200"/>
            <a:ext cx="91440" cy="91440"/>
          </a:xfrm>
          <a:prstGeom prst="ellipse">
            <a:avLst/>
          </a:prstGeom>
          <a:solidFill>
            <a:srgbClr val="2B6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39551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40719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1887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713232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0">
                <a:solidFill>
                  <a:srgbClr val="1D1D1F"/>
                </a:solidFill>
                <a:latin typeface="Segoe UI Semibold"/>
              </a:rPr>
              <a:t>From 1,159 counties to ten: a large, lasting price advantage, a market big enough to fill a center, and demand to rank them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6291072"/>
            <a:ext cx="11094415" cy="0"/>
          </a:xfrm>
          <a:prstGeom prst="line">
            <a:avLst/>
          </a:prstGeom>
          <a:ln w="9525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6382512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6868B"/>
                </a:solidFill>
                <a:latin typeface="Segoe UI"/>
              </a:rPr>
              <a:t>Premium = within-state % premium (slide 2), averaged over observed years 2015–2022 (≥ 5). Market size = children under 6 whose resident parents all work (ACS B23008). Score = 50% premium rank + 50% demand rank (children needing care, their share, income) among the ten; it only orders them. Female college share not used (r = 0.83 with income). Appendix 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543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868B"/>
                </a:solidFill>
                <a:latin typeface="Segoe UI"/>
              </a:rPr>
              <a:t>3</a:t>
            </a:r>
          </a:p>
        </p:txBody>
      </p:sp>
      <p:pic>
        <p:nvPicPr>
          <p:cNvPr id="13" name="Picture 12" descr="yale_som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6345936"/>
            <a:ext cx="26822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1828800"/>
            <a:ext cx="448932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6CD0"/>
                </a:solidFill>
                <a:latin typeface="Segoe UI Semibold"/>
              </a:rPr>
              <a:t>THE FUNNEL: FROM ALL METRO COUNTIES TO 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6562" y="1828800"/>
            <a:ext cx="63764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6CD0"/>
                </a:solidFill>
                <a:latin typeface="Segoe UI Semibold"/>
              </a:rPr>
              <a:t>MARKET CHARACTERISTICS OF THE TEN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121408"/>
            <a:ext cx="4489323" cy="512064"/>
          </a:xfrm>
          <a:prstGeom prst="roundRect">
            <a:avLst>
              <a:gd name="adj" fmla="val 25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121408"/>
            <a:ext cx="868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D1D1F"/>
                </a:solidFill>
                <a:latin typeface="Segoe UI Semibold"/>
              </a:rPr>
              <a:t>1,159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2121408"/>
            <a:ext cx="343776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>
                <a:solidFill>
                  <a:srgbClr val="1D1D1F"/>
                </a:solidFill>
                <a:latin typeface="Segoe UI"/>
              </a:rPr>
              <a:t>metro counties with price, wage and rent data</a:t>
            </a:r>
          </a:p>
          <a:p>
            <a:pPr algn="l">
              <a:lnSpc>
                <a:spcPct val="95000"/>
              </a:lnSpc>
            </a:pPr>
            <a:r>
              <a:rPr sz="830" b="0">
                <a:solidFill>
                  <a:srgbClr val="6E6E73"/>
                </a:solidFill>
                <a:latin typeface="Segoe UI"/>
              </a:rPr>
              <a:t>NDCP prices × BLS wages × ACS rents, 2015–2022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691384"/>
            <a:ext cx="4288155" cy="512064"/>
          </a:xfrm>
          <a:prstGeom prst="roundRect">
            <a:avLst>
              <a:gd name="adj" fmla="val 25000"/>
            </a:avLst>
          </a:prstGeom>
          <a:solidFill>
            <a:srgbClr val="D3E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2691384"/>
            <a:ext cx="868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D1D1F"/>
                </a:solidFill>
                <a:latin typeface="Segoe UI Semibold"/>
              </a:rPr>
              <a:t>972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2691384"/>
            <a:ext cx="323659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>
                <a:solidFill>
                  <a:srgbClr val="1D1D1F"/>
                </a:solidFill>
                <a:latin typeface="Segoe UI"/>
              </a:rPr>
              <a:t>in the 2022 data, observed ≥ 5 of 8 years</a:t>
            </a:r>
          </a:p>
          <a:p>
            <a:pPr algn="l">
              <a:lnSpc>
                <a:spcPct val="95000"/>
              </a:lnSpc>
            </a:pPr>
            <a:r>
              <a:rPr sz="830" b="0">
                <a:solidFill>
                  <a:srgbClr val="6E6E73"/>
                </a:solidFill>
                <a:latin typeface="Segoe UI"/>
              </a:rPr>
              <a:t>current market evidence + enough history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261360"/>
            <a:ext cx="4086987" cy="512064"/>
          </a:xfrm>
          <a:prstGeom prst="roundRect">
            <a:avLst>
              <a:gd name="adj" fmla="val 25000"/>
            </a:avLst>
          </a:prstGeom>
          <a:solidFill>
            <a:srgbClr val="A8C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261360"/>
            <a:ext cx="868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D1D1F"/>
                </a:solidFill>
                <a:latin typeface="Segoe UI Semibold"/>
              </a:rPr>
              <a:t>460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3261360"/>
            <a:ext cx="303542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>
                <a:solidFill>
                  <a:srgbClr val="1D1D1F"/>
                </a:solidFill>
                <a:latin typeface="Segoe UI"/>
              </a:rPr>
              <a:t>positive premium also nationally</a:t>
            </a:r>
          </a:p>
          <a:p>
            <a:pPr algn="l">
              <a:lnSpc>
                <a:spcPct val="95000"/>
              </a:lnSpc>
            </a:pPr>
            <a:r>
              <a:rPr sz="830" b="0">
                <a:solidFill>
                  <a:srgbClr val="6E6E73"/>
                </a:solidFill>
                <a:latin typeface="Segoe UI"/>
              </a:rPr>
              <a:t>not just pricey relative to a cheap state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831336"/>
            <a:ext cx="3885819" cy="512064"/>
          </a:xfrm>
          <a:prstGeom prst="roundRect">
            <a:avLst>
              <a:gd name="adj" fmla="val 25000"/>
            </a:avLst>
          </a:prstGeom>
          <a:solidFill>
            <a:srgbClr val="6FA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3831336"/>
            <a:ext cx="868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D1D1F"/>
                </a:solidFill>
                <a:latin typeface="Segoe UI Semibold"/>
              </a:rP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3831336"/>
            <a:ext cx="283425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>
                <a:solidFill>
                  <a:srgbClr val="1D1D1F"/>
                </a:solidFill>
                <a:latin typeface="Segoe UI"/>
              </a:rPr>
              <a:t>largest average within-state premium</a:t>
            </a:r>
          </a:p>
          <a:p>
            <a:pPr algn="l">
              <a:lnSpc>
                <a:spcPct val="95000"/>
              </a:lnSpc>
            </a:pPr>
            <a:r>
              <a:rPr sz="830" b="0">
                <a:solidFill>
                  <a:srgbClr val="1D1D1F"/>
                </a:solidFill>
                <a:latin typeface="Segoe UI"/>
              </a:rPr>
              <a:t>within-state model, averaged over 2015–2022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401312"/>
            <a:ext cx="3684651" cy="512064"/>
          </a:xfrm>
          <a:prstGeom prst="roundRect">
            <a:avLst>
              <a:gd name="adj" fmla="val 25000"/>
            </a:avLst>
          </a:prstGeom>
          <a:solidFill>
            <a:srgbClr val="3A7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401312"/>
            <a:ext cx="868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4401312"/>
            <a:ext cx="263309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premium positive in every single year</a:t>
            </a:r>
          </a:p>
          <a:p>
            <a:pPr algn="l">
              <a:lnSpc>
                <a:spcPct val="95000"/>
              </a:lnSpc>
            </a:pPr>
            <a:r>
              <a:rPr sz="830" b="0">
                <a:solidFill>
                  <a:srgbClr val="DCE7F7"/>
                </a:solidFill>
                <a:latin typeface="Segoe UI"/>
              </a:rPr>
              <a:t>lasting, not a one-off spike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971288"/>
            <a:ext cx="3483483" cy="512064"/>
          </a:xfrm>
          <a:prstGeom prst="roundRect">
            <a:avLst>
              <a:gd name="adj" fmla="val 25000"/>
            </a:avLst>
          </a:prstGeom>
          <a:solidFill>
            <a:srgbClr val="1D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4971288"/>
            <a:ext cx="868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36192" y="4971288"/>
            <a:ext cx="243192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≥ 4,286 children needing care</a:t>
            </a:r>
          </a:p>
          <a:p>
            <a:pPr algn="l">
              <a:lnSpc>
                <a:spcPct val="95000"/>
              </a:lnSpc>
            </a:pPr>
            <a:r>
              <a:rPr sz="830" b="0">
                <a:solidFill>
                  <a:srgbClr val="DCE7F7"/>
                </a:solidFill>
                <a:latin typeface="Segoe UI"/>
              </a:rPr>
              <a:t>median market size; the other 10 fail only here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541264"/>
            <a:ext cx="3282315" cy="512064"/>
          </a:xfrm>
          <a:prstGeom prst="roundRect">
            <a:avLst>
              <a:gd name="adj" fmla="val 25000"/>
            </a:avLst>
          </a:prstGeom>
          <a:solidFill>
            <a:srgbClr val="0B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541264"/>
            <a:ext cx="868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Top 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36192" y="5541264"/>
            <a:ext cx="223075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ranked by score, removes none</a:t>
            </a:r>
          </a:p>
          <a:p>
            <a:pPr algn="l">
              <a:lnSpc>
                <a:spcPct val="95000"/>
              </a:lnSpc>
            </a:pPr>
            <a:r>
              <a:rPr sz="830" b="0">
                <a:solidFill>
                  <a:srgbClr val="DCE7F7"/>
                </a:solidFill>
                <a:latin typeface="Segoe UI"/>
              </a:rPr>
              <a:t>50% premium + 50% demand rank</a:t>
            </a:r>
          </a:p>
        </p:txBody>
      </p:sp>
      <p:pic>
        <p:nvPicPr>
          <p:cNvPr id="37" name="Picture 36" descr="deck_F3b_characteri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562" y="2121408"/>
            <a:ext cx="6376492" cy="39319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B6CD0"/>
                </a:solidFill>
                <a:latin typeface="Segoe UI Semibold"/>
              </a:rPr>
              <a:t>04  </a:t>
            </a:r>
            <a:r>
              <a:rPr sz="1100" b="0">
                <a:solidFill>
                  <a:srgbClr val="6E6E73"/>
                </a:solidFill>
                <a:latin typeface="Segoe UI Semibold"/>
              </a:rPr>
              <a:t>HOW RELIABLE IS THE PREDICTION?</a:t>
            </a:r>
          </a:p>
        </p:txBody>
      </p:sp>
      <p:sp>
        <p:nvSpPr>
          <p:cNvPr id="3" name="Oval 2"/>
          <p:cNvSpPr/>
          <p:nvPr/>
        </p:nvSpPr>
        <p:spPr>
          <a:xfrm>
            <a:off x="10436047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7215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8383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39551" y="457200"/>
            <a:ext cx="91440" cy="91440"/>
          </a:xfrm>
          <a:prstGeom prst="ellipse">
            <a:avLst/>
          </a:prstGeom>
          <a:solidFill>
            <a:srgbClr val="2B6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40719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1887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713232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0">
                <a:solidFill>
                  <a:srgbClr val="1D1D1F"/>
                </a:solidFill>
                <a:latin typeface="Segoe UI Semibold"/>
              </a:rPr>
              <a:t>With 2018 data only, our rule already picked 7 of today’s ten, and the list barely changes when we vary the design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6291072"/>
            <a:ext cx="11094415" cy="0"/>
          </a:xfrm>
          <a:prstGeom prst="line">
            <a:avLst/>
          </a:prstGeom>
          <a:ln w="9525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6382512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6868B"/>
                </a:solidFill>
                <a:latin typeface="Segoe UI"/>
              </a:rPr>
              <a:t>Backtest: complete rule applied with 2015–2018 data only (these years are also part of today’s average); outcome = within-state premium in 2022 (8 of 10 picks still in the 2022 sample). Robustness: whole rule rerun with one change at a time. Appendix C and 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543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868B"/>
                </a:solidFill>
                <a:latin typeface="Segoe UI"/>
              </a:rPr>
              <a:t>4</a:t>
            </a:r>
          </a:p>
        </p:txBody>
      </p:sp>
      <p:pic>
        <p:nvPicPr>
          <p:cNvPr id="13" name="Picture 12" descr="yale_som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6345936"/>
            <a:ext cx="26822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1828800"/>
            <a:ext cx="543290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6CD0"/>
                </a:solidFill>
                <a:latin typeface="Segoe UI Semibold"/>
              </a:rPr>
              <a:t>BACKTEST: AS IF WE HAD DECIDED IN 2018</a:t>
            </a:r>
          </a:p>
        </p:txBody>
      </p:sp>
      <p:pic>
        <p:nvPicPr>
          <p:cNvPr id="15" name="Picture 14" descr="deck_F4_back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21408"/>
            <a:ext cx="5432907" cy="187499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4069080"/>
            <a:ext cx="543290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6CD0"/>
                </a:solidFill>
                <a:latin typeface="Segoe UI Semibold"/>
              </a:rPr>
              <a:t>STATISTICAL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61688"/>
            <a:ext cx="1658569" cy="169164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489704"/>
            <a:ext cx="132938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2B6CD0"/>
                </a:solidFill>
                <a:latin typeface="Segoe UI Semibold"/>
              </a:rPr>
              <a:t>≥ +27%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038344"/>
            <a:ext cx="132938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E6E73"/>
                </a:solidFill>
                <a:latin typeface="Segoe UI"/>
              </a:rPr>
              <a:t>average premium of every one of the ten in its direct survey years only (no interpolated prices)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35809" y="4361688"/>
            <a:ext cx="1658569" cy="169164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0401" y="4489704"/>
            <a:ext cx="132938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2B6CD0"/>
                </a:solidFill>
                <a:latin typeface="Segoe UI Semibold"/>
              </a:rPr>
              <a:t>−14%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0401" y="5038344"/>
            <a:ext cx="132938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E6E73"/>
                </a:solidFill>
                <a:latin typeface="Segoe UI"/>
              </a:rPr>
              <a:t>forecast error of our cost model vs. model “c” on 2022 prices it never saw (fitted 2015–20)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2978" y="4361688"/>
            <a:ext cx="1658569" cy="169164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7570" y="4489704"/>
            <a:ext cx="132938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2B6CD0"/>
                </a:solidFill>
                <a:latin typeface="Segoe UI Semibold"/>
              </a:rPr>
              <a:t>10/10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7570" y="5038344"/>
            <a:ext cx="132938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E6E73"/>
                </a:solidFill>
                <a:latin typeface="Segoe UI"/>
              </a:rPr>
              <a:t>same list with both wage measures (8/10 if the teacher wage replaces ours)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0147" y="1828800"/>
            <a:ext cx="543290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6CD0"/>
                </a:solidFill>
                <a:latin typeface="Segoe UI Semibold"/>
              </a:rPr>
              <a:t>ROBUSTNESS: 7 OF 10 SELECTED IN ALL 5 ALTERNATIVE DESIGNS</a:t>
            </a:r>
          </a:p>
        </p:txBody>
      </p:sp>
      <p:pic>
        <p:nvPicPr>
          <p:cNvPr id="27" name="Picture 26" descr="deck_F4b_robustness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147" y="2121408"/>
            <a:ext cx="5432907" cy="301828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10147" y="5212080"/>
            <a:ext cx="5432907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900" b="0">
                <a:solidFill>
                  <a:srgbClr val="1D1D1F"/>
                </a:solidFill>
                <a:latin typeface="Segoe UI Semibold"/>
              </a:rPr>
              <a:t>Not counted: </a:t>
            </a:r>
            <a:r>
              <a:rPr sz="900" b="0">
                <a:solidFill>
                  <a:srgbClr val="6E6E73"/>
                </a:solidFill>
                <a:latin typeface="Segoe UI"/>
              </a:rPr>
              <a:t>weights 70/30 or 30/70 and “one weak year allowed” cannot change the list by construction. Weighting counties by children keeps 6 of 10.</a:t>
            </a:r>
          </a:p>
          <a:p>
            <a:pPr algn="l">
              <a:lnSpc>
                <a:spcPct val="103000"/>
              </a:lnSpc>
            </a:pPr>
            <a:r>
              <a:rPr sz="900" b="0">
                <a:solidFill>
                  <a:srgbClr val="1D1D1F"/>
                </a:solidFill>
                <a:latin typeface="Segoe UI Semibold"/>
              </a:rPr>
              <a:t>Portfolio view (max. 2 per metro): </a:t>
            </a:r>
            <a:r>
              <a:rPr sz="900" b="0">
                <a:solidFill>
                  <a:srgbClr val="6E6E73"/>
                </a:solidFill>
                <a:latin typeface="Segoe UI"/>
              </a:rPr>
              <a:t>Loudoun and Fairfax give way to Ramsey, MN and Trumbull, OH; the other 8 stay.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B6CD0"/>
                </a:solidFill>
                <a:latin typeface="Segoe UI Semibold"/>
              </a:rPr>
              <a:t>05  </a:t>
            </a:r>
            <a:r>
              <a:rPr sz="1100" b="0">
                <a:solidFill>
                  <a:srgbClr val="6E6E73"/>
                </a:solidFill>
                <a:latin typeface="Segoe UI Semibold"/>
              </a:rPr>
              <a:t>ARE THE PREMIUMS STABLE OVER TIME?</a:t>
            </a:r>
          </a:p>
        </p:txBody>
      </p:sp>
      <p:sp>
        <p:nvSpPr>
          <p:cNvPr id="3" name="Oval 2"/>
          <p:cNvSpPr/>
          <p:nvPr/>
        </p:nvSpPr>
        <p:spPr>
          <a:xfrm>
            <a:off x="10436047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7215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8383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39551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40719" y="457200"/>
            <a:ext cx="91440" cy="91440"/>
          </a:xfrm>
          <a:prstGeom prst="ellipse">
            <a:avLst/>
          </a:prstGeom>
          <a:solidFill>
            <a:srgbClr val="2B6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1887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713232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0">
                <a:solidFill>
                  <a:srgbClr val="1D1D1F"/>
                </a:solidFill>
                <a:latin typeface="Segoe UI Semibold"/>
              </a:rPr>
              <a:t>Premiums above cost-based predictions last for years, but fade: about two thirds remain after five years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6291072"/>
            <a:ext cx="11094415" cy="0"/>
          </a:xfrm>
          <a:prstGeom prst="line">
            <a:avLst/>
          </a:prstGeom>
          <a:ln w="9525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6382512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6868B"/>
                </a:solidFill>
                <a:latin typeface="Segoe UI"/>
              </a:rPr>
              <a:t>Within-state premium per county and year, 2015–2022 (log model, fitted per year). Survey test: two direct NDCP survey prices ≈ 4.7 years apart, 1,038 counties, 46 states, SE clustered by state. Quintile test: counties observed every year, incl. interpolated years (may overstate stability). Appendix 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543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868B"/>
                </a:solidFill>
                <a:latin typeface="Segoe UI"/>
              </a:rPr>
              <a:t>5</a:t>
            </a:r>
          </a:p>
        </p:txBody>
      </p:sp>
      <p:pic>
        <p:nvPicPr>
          <p:cNvPr id="13" name="Picture 12" descr="yale_som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6345936"/>
            <a:ext cx="26822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1828800"/>
            <a:ext cx="63764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6CD0"/>
                </a:solidFill>
                <a:latin typeface="Segoe UI Semibold"/>
              </a:rPr>
              <a:t>PREMIUM PER YEAR: EACH TOP-10 COUNTY VS. TYPICAL COUNTIES (GRAY: 10TH–90TH PCT.)</a:t>
            </a:r>
          </a:p>
        </p:txBody>
      </p:sp>
      <p:pic>
        <p:nvPicPr>
          <p:cNvPr id="15" name="Picture 14" descr="deck_F5_st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21408"/>
            <a:ext cx="6376492" cy="352048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733288"/>
            <a:ext cx="63764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6868B"/>
                </a:solidFill>
                <a:latin typeface="Segoe UI"/>
              </a:rPr>
              <a:t>Dashed: 2021 missing (no NDCP prices for CA, VA). The 2022 jumps in Arlington, Alexandria and San Francisco come from NDCP-extrapolated CA/VA prices, so we rank on the 8-year average.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3732" y="1828800"/>
            <a:ext cx="448932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6CD0"/>
                </a:solidFill>
                <a:latin typeface="Segoe UI Semibold"/>
              </a:rPr>
              <a:t>HOW MUCH OF A PREMIUM SURVIVES?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3732" y="2121408"/>
            <a:ext cx="213036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2B6CD0"/>
                </a:solidFill>
                <a:latin typeface="Segoe UI Semibold"/>
              </a:rPr>
              <a:t>0.67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3732" y="2673858"/>
            <a:ext cx="213036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E6E73"/>
                </a:solidFill>
                <a:latin typeface="Segoe UI"/>
              </a:rPr>
              <a:t>of a premium (log scale) remains ≈ 5 years later (survey prices only)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12693" y="2121408"/>
            <a:ext cx="213036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2B6CD0"/>
                </a:solidFill>
                <a:latin typeface="Segoe UI Semibold"/>
              </a:rPr>
              <a:t>74%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12693" y="2673858"/>
            <a:ext cx="213036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E6E73"/>
                </a:solidFill>
                <a:latin typeface="Segoe UI"/>
              </a:rPr>
              <a:t>of counties keep the sign of their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3732" y="3246120"/>
            <a:ext cx="448932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6868B"/>
                </a:solidFill>
                <a:latin typeface="Segoe UI"/>
              </a:rPr>
              <a:t>95% CI for the slope: [0.57, 0.78]; correlation 0.67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153732" y="3584448"/>
          <a:ext cx="4488789" cy="14173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1417320"/>
                <a:gridCol w="1151229"/>
              </a:tblGrid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6E6E73"/>
                          </a:solidFill>
                          <a:latin typeface="Segoe UI Semibold"/>
                        </a:rPr>
                        <a:t>Counties in the top fifth in…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6E6E73"/>
                          </a:solidFill>
                          <a:latin typeface="Segoe UI Semibold"/>
                        </a:rPr>
                        <a:t>still top fifth in 2022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6E6E73"/>
                          </a:solidFill>
                          <a:latin typeface="Segoe UI Semibold"/>
                        </a:rPr>
                        <a:t>still positive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 Semibold"/>
                        </a:rPr>
                        <a:t>2015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56%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82%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 Semibold"/>
                        </a:rPr>
                        <a:t>2018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63%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89%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 Semibold"/>
                        </a:rPr>
                        <a:t>2019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73%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97%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 Semibold"/>
                        </a:rPr>
                        <a:t>If premiums were random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20%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≈ 50%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cxnSp>
        <p:nvCxnSpPr>
          <p:cNvPr id="24" name="Connector 23"/>
          <p:cNvCxnSpPr/>
          <p:nvPr/>
        </p:nvCxnSpPr>
        <p:spPr>
          <a:xfrm>
            <a:off x="7153732" y="3867912"/>
            <a:ext cx="4489323" cy="0"/>
          </a:xfrm>
          <a:prstGeom prst="line">
            <a:avLst/>
          </a:prstGeom>
          <a:ln w="9525">
            <a:solidFill>
              <a:srgbClr val="6E6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153732" y="4151376"/>
            <a:ext cx="4489323" cy="0"/>
          </a:xfrm>
          <a:prstGeom prst="line">
            <a:avLst/>
          </a:prstGeom>
          <a:ln w="635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153732" y="4434840"/>
            <a:ext cx="4489323" cy="0"/>
          </a:xfrm>
          <a:prstGeom prst="line">
            <a:avLst/>
          </a:prstGeom>
          <a:ln w="635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153732" y="4718304"/>
            <a:ext cx="4489323" cy="0"/>
          </a:xfrm>
          <a:prstGeom prst="line">
            <a:avLst/>
          </a:prstGeom>
          <a:ln w="635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53732" y="5001768"/>
            <a:ext cx="4489323" cy="0"/>
          </a:xfrm>
          <a:prstGeom prst="line">
            <a:avLst/>
          </a:prstGeom>
          <a:ln w="635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153732" y="5175504"/>
            <a:ext cx="4489323" cy="877824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54900" y="5175504"/>
            <a:ext cx="4086987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D1D1F"/>
                </a:solidFill>
                <a:latin typeface="Segoe UI Semibold"/>
              </a:rPr>
              <a:t>So we plan with the expected premium: </a:t>
            </a:r>
            <a:r>
              <a:rPr sz="1000" b="0">
                <a:solidFill>
                  <a:srgbClr val="6E6E73"/>
                </a:solidFill>
                <a:latin typeface="Segoe UI"/>
              </a:rPr>
              <a:t>each county’s average premium, faded by the slope of 0.67 on the log scale: +18% to +37% for our ten (slide 1).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B6CD0"/>
                </a:solidFill>
                <a:latin typeface="Segoe UI Semibold"/>
              </a:rPr>
              <a:t>06  </a:t>
            </a:r>
            <a:r>
              <a:rPr sz="1100" b="0">
                <a:solidFill>
                  <a:srgbClr val="6E6E73"/>
                </a:solidFill>
                <a:latin typeface="Segoe UI Semibold"/>
              </a:rPr>
              <a:t>WHAT THE MODEL DOES NOT SEE YET</a:t>
            </a:r>
          </a:p>
        </p:txBody>
      </p:sp>
      <p:sp>
        <p:nvSpPr>
          <p:cNvPr id="3" name="Oval 2"/>
          <p:cNvSpPr/>
          <p:nvPr/>
        </p:nvSpPr>
        <p:spPr>
          <a:xfrm>
            <a:off x="10436047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7215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8383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39551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40719" y="457200"/>
            <a:ext cx="91440" cy="91440"/>
          </a:xfrm>
          <a:prstGeom prst="ellipse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1887" y="457200"/>
            <a:ext cx="91440" cy="91440"/>
          </a:xfrm>
          <a:prstGeom prst="ellipse">
            <a:avLst/>
          </a:prstGeom>
          <a:solidFill>
            <a:srgbClr val="2B6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713232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0">
                <a:solidFill>
                  <a:srgbClr val="1D1D1F"/>
                </a:solidFill>
                <a:latin typeface="Segoe UI Semibold"/>
              </a:rPr>
              <a:t>Our recommendation: open first in Northern Virginia, one market with four top counties, after checking local prices on the ground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6291072"/>
            <a:ext cx="11094415" cy="0"/>
          </a:xfrm>
          <a:prstGeom prst="line">
            <a:avLst/>
          </a:prstGeom>
          <a:ln w="9525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6382512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6868B"/>
                </a:solidFill>
                <a:latin typeface="Segoe UI"/>
              </a:rPr>
              <a:t>Benchmarks: quartiles of all metro counties with data (882–974 counties). Competition: Census County Business Patterns (NAICS 624410, 2022), children needing care (ACS). *Public pre-K: state/county program rules, accessed Oct 2026 (sources in Appendix F).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543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868B"/>
                </a:solidFill>
                <a:latin typeface="Segoe UI"/>
              </a:rPr>
              <a:t>6</a:t>
            </a:r>
          </a:p>
        </p:txBody>
      </p:sp>
      <p:pic>
        <p:nvPicPr>
          <p:cNvPr id="13" name="Picture 12" descr="yale_som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6345936"/>
            <a:ext cx="26822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1828800"/>
            <a:ext cx="448932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6CD0"/>
                </a:solidFill>
                <a:latin typeface="Segoe UI Semibold"/>
              </a:rPr>
              <a:t>FIVE LOCAL CHECKS THE COST MODEL CANNOT SEE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828800"/>
            <a:ext cx="73200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0CA30C"/>
                </a:solidFill>
                <a:latin typeface="Segoe UI Symbol"/>
              </a:rPr>
              <a:t>✓</a:t>
            </a:r>
            <a:r>
              <a:rPr sz="950" b="0">
                <a:solidFill>
                  <a:srgbClr val="6E6E73"/>
                </a:solidFill>
                <a:latin typeface="Segoe UI"/>
              </a:rPr>
              <a:t> typical     </a:t>
            </a:r>
            <a:r>
              <a:rPr sz="950" b="0">
                <a:solidFill>
                  <a:srgbClr val="C98500"/>
                </a:solidFill>
                <a:latin typeface="Segoe UI Symbol"/>
              </a:rPr>
              <a:t>!</a:t>
            </a:r>
            <a:r>
              <a:rPr sz="950" b="0">
                <a:solidFill>
                  <a:srgbClr val="6E6E73"/>
                </a:solidFill>
                <a:latin typeface="Segoe UI"/>
              </a:rPr>
              <a:t> watch     </a:t>
            </a:r>
            <a:r>
              <a:rPr sz="950" b="0">
                <a:solidFill>
                  <a:srgbClr val="D03B3B"/>
                </a:solidFill>
                <a:latin typeface="Segoe UI Symbol"/>
              </a:rPr>
              <a:t>✕</a:t>
            </a:r>
            <a:r>
              <a:rPr sz="950" b="0">
                <a:solidFill>
                  <a:srgbClr val="6E6E73"/>
                </a:solidFill>
                <a:latin typeface="Segoe UI"/>
              </a:rPr>
              <a:t> risk   (vs. all metro counties)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2121408"/>
          <a:ext cx="7319772" cy="39319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80160"/>
                <a:gridCol w="1481328"/>
                <a:gridCol w="1188720"/>
                <a:gridCol w="1005840"/>
                <a:gridCol w="1005840"/>
                <a:gridCol w="1357884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6E6E73"/>
                          </a:solidFill>
                          <a:latin typeface="Segoe UI Semibold"/>
                        </a:rPr>
                        <a:t>County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6E6E73"/>
                          </a:solidFill>
                          <a:latin typeface="Segoe UI Semibold"/>
                        </a:rPr>
                        <a:t>Competition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6E6E73"/>
                          </a:solidFill>
                          <a:latin typeface="Segoe UI Semibold"/>
                        </a:rPr>
                        <a:t>Child trend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6E6E73"/>
                          </a:solidFill>
                          <a:latin typeface="Segoe UI Semibold"/>
                        </a:rPr>
                        <a:t>Wage growth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6E6E73"/>
                          </a:solidFill>
                          <a:latin typeface="Segoe UI Semibold"/>
                        </a:rPr>
                        <a:t>Rent growth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6E6E73"/>
                          </a:solidFill>
                          <a:latin typeface="Segoe UI Semibold"/>
                        </a:rPr>
                        <a:t>Public pre-K*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780">
                          <a:solidFill>
                            <a:srgbClr val="2B6CD0"/>
                          </a:solidFill>
                          <a:latin typeface="Segoe UI Semibold"/>
                        </a:rPr>
                        <a:t>Why it matters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>
                          <a:solidFill>
                            <a:srgbClr val="6E6E73"/>
                          </a:solidFill>
                          <a:latin typeface="Segoe UI"/>
                        </a:rPr>
                        <a:t>Centers per 1,000 children needing care. ! above 6.24 (crowded) or below 3.86 (untested)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>
                          <a:solidFill>
                            <a:srgbClr val="6E6E73"/>
                          </a:solidFill>
                          <a:latin typeface="Segoe UI"/>
                        </a:rPr>
                        <a:t>Children &lt;6, 2015–22: future demand. ! below median (−4.4%), ✕ below −10.0%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>
                          <a:solidFill>
                            <a:srgbClr val="6E6E73"/>
                          </a:solidFill>
                          <a:latin typeface="Segoe UI"/>
                        </a:rPr>
                        <a:t>2019–22: staff cost pressure. ! top quarter (above +6.1%)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>
                          <a:solidFill>
                            <a:srgbClr val="6E6E73"/>
                          </a:solidFill>
                          <a:latin typeface="Segoe UI"/>
                        </a:rPr>
                        <a:t>2015–22: site cost pressure. ! top quarter (above +12.0%)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>
                          <a:solidFill>
                            <a:srgbClr val="6E6E73"/>
                          </a:solidFill>
                          <a:latin typeface="Segoe UI"/>
                        </a:rPr>
                        <a:t>Free public pre-K competes directly. ! if free for all incomes (universal)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 Semibold"/>
                        </a:rPr>
                        <a:t>Arlington, VA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CA30C"/>
                          </a:solidFill>
                          <a:latin typeface="Segoe UI Symbol"/>
                        </a:rPr>
                        <a:t>✓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5.44  typical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CA30C"/>
                          </a:solidFill>
                          <a:latin typeface="Segoe UI Symbol"/>
                        </a:rPr>
                        <a:t>✓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−3.3%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CA30C"/>
                          </a:solidFill>
                          <a:latin typeface="Segoe UI Symbol"/>
                        </a:rPr>
                        <a:t>✓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+5.0%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CA30C"/>
                          </a:solidFill>
                          <a:latin typeface="Segoe UI Symbol"/>
                        </a:rPr>
                        <a:t>✓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−1.3%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CA30C"/>
                          </a:solidFill>
                          <a:latin typeface="Segoe UI Symbol"/>
                        </a:rPr>
                        <a:t>✓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targeted only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 Semibold"/>
                        </a:rPr>
                        <a:t>Alexandria, VA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CA30C"/>
                          </a:solidFill>
                          <a:latin typeface="Segoe UI Symbol"/>
                        </a:rPr>
                        <a:t>✓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5.67  typical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8500"/>
                          </a:solidFill>
                          <a:latin typeface="Segoe UI Symbol"/>
                        </a:rPr>
                        <a:t>!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−5.9%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CA30C"/>
                          </a:solidFill>
                          <a:latin typeface="Segoe UI Symbol"/>
                        </a:rPr>
                        <a:t>✓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+5.0%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CA30C"/>
                          </a:solidFill>
                          <a:latin typeface="Segoe UI Symbol"/>
                        </a:rPr>
                        <a:t>✓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+3.3%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CA30C"/>
                          </a:solidFill>
                          <a:latin typeface="Segoe UI Symbol"/>
                        </a:rPr>
                        <a:t>✓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targeted only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 Semibold"/>
                        </a:rPr>
                        <a:t>San Francisco, CA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8500"/>
                          </a:solidFill>
                          <a:latin typeface="Segoe UI Symbol"/>
                        </a:rPr>
                        <a:t>!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14.22  dense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8500"/>
                          </a:solidFill>
                          <a:latin typeface="Segoe UI Symbol"/>
                        </a:rPr>
                        <a:t>!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−5.5%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CA30C"/>
                          </a:solidFill>
                          <a:latin typeface="Segoe UI Symbol"/>
                        </a:rPr>
                        <a:t>✓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−1.3%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8500"/>
                          </a:solidFill>
                          <a:latin typeface="Segoe UI Symbol"/>
                        </a:rPr>
                        <a:t>!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+20.4%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8500"/>
                          </a:solidFill>
                          <a:latin typeface="Segoe UI Symbol"/>
                        </a:rPr>
                        <a:t>!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universal (TK + city)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 Semibold"/>
                        </a:rPr>
                        <a:t>Loudoun, VA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8500"/>
                          </a:solidFill>
                          <a:latin typeface="Segoe UI Symbol"/>
                        </a:rPr>
                        <a:t>!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6.54  dense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CA30C"/>
                          </a:solidFill>
                          <a:latin typeface="Segoe UI Symbol"/>
                        </a:rPr>
                        <a:t>✓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+0.8%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CA30C"/>
                          </a:solidFill>
                          <a:latin typeface="Segoe UI Symbol"/>
                        </a:rPr>
                        <a:t>✓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+5.0%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CA30C"/>
                          </a:solidFill>
                          <a:latin typeface="Segoe UI Symbol"/>
                        </a:rPr>
                        <a:t>✓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+6.6%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CA30C"/>
                          </a:solidFill>
                          <a:latin typeface="Segoe UI Symbol"/>
                        </a:rPr>
                        <a:t>✓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targeted only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 Semibold"/>
                        </a:rPr>
                        <a:t>Olmsted, MN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CA30C"/>
                          </a:solidFill>
                          <a:latin typeface="Segoe UI Symbol"/>
                        </a:rPr>
                        <a:t>✓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5.24  typical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8500"/>
                          </a:solidFill>
                          <a:latin typeface="Segoe UI Symbol"/>
                        </a:rPr>
                        <a:t>!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−5.7%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CA30C"/>
                          </a:solidFill>
                          <a:latin typeface="Segoe UI Symbol"/>
                        </a:rPr>
                        <a:t>✓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−1.9%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8500"/>
                          </a:solidFill>
                          <a:latin typeface="Segoe UI Symbol"/>
                        </a:rPr>
                        <a:t>!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+16.8%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CA30C"/>
                          </a:solidFill>
                          <a:latin typeface="Segoe UI Symbol"/>
                        </a:rPr>
                        <a:t>✓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targeted only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 Semibold"/>
                        </a:rPr>
                        <a:t>Fairfax, VA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CA30C"/>
                          </a:solidFill>
                          <a:latin typeface="Segoe UI Symbol"/>
                        </a:rPr>
                        <a:t>✓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6.22  typical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8500"/>
                          </a:solidFill>
                          <a:latin typeface="Segoe UI Symbol"/>
                        </a:rPr>
                        <a:t>!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−9.5%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CA30C"/>
                          </a:solidFill>
                          <a:latin typeface="Segoe UI Symbol"/>
                        </a:rPr>
                        <a:t>✓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+5.0%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CA30C"/>
                          </a:solidFill>
                          <a:latin typeface="Segoe UI Symbol"/>
                        </a:rPr>
                        <a:t>✓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+0.1%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CA30C"/>
                          </a:solidFill>
                          <a:latin typeface="Segoe UI Symbol"/>
                        </a:rPr>
                        <a:t>✓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targeted only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 Semibold"/>
                        </a:rPr>
                        <a:t>Multnomah, OR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8500"/>
                          </a:solidFill>
                          <a:latin typeface="Segoe UI Symbol"/>
                        </a:rPr>
                        <a:t>!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12.16  dense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D03B3B"/>
                          </a:solidFill>
                          <a:latin typeface="Segoe UI Symbol"/>
                        </a:rPr>
                        <a:t>✕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−15.8%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8500"/>
                          </a:solidFill>
                          <a:latin typeface="Segoe UI Symbol"/>
                        </a:rPr>
                        <a:t>!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+7.6%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8500"/>
                          </a:solidFill>
                          <a:latin typeface="Segoe UI Symbol"/>
                        </a:rPr>
                        <a:t>!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+27.3%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8500"/>
                          </a:solidFill>
                          <a:latin typeface="Segoe UI Symbol"/>
                        </a:rPr>
                        <a:t>!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Preschool for All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 Semibold"/>
                        </a:rPr>
                        <a:t>Howard, MD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8500"/>
                          </a:solidFill>
                          <a:latin typeface="Segoe UI Symbol"/>
                        </a:rPr>
                        <a:t>!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7.00  dense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CA30C"/>
                          </a:solidFill>
                          <a:latin typeface="Segoe UI Symbol"/>
                        </a:rPr>
                        <a:t>✓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+0.5%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8500"/>
                          </a:solidFill>
                          <a:latin typeface="Segoe UI Symbol"/>
                        </a:rPr>
                        <a:t>!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+8.6%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CA30C"/>
                          </a:solidFill>
                          <a:latin typeface="Segoe UI Symbol"/>
                        </a:rPr>
                        <a:t>✓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−1.5%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CA30C"/>
                          </a:solidFill>
                          <a:latin typeface="Segoe UI Symbol"/>
                        </a:rPr>
                        <a:t>✓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income-tiered only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 Semibold"/>
                        </a:rPr>
                        <a:t>Hall, GA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8500"/>
                          </a:solidFill>
                          <a:latin typeface="Segoe UI Symbol"/>
                        </a:rPr>
                        <a:t>!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2.60  thin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8500"/>
                          </a:solidFill>
                          <a:latin typeface="Segoe UI Symbol"/>
                        </a:rPr>
                        <a:t>!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−5.1%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8500"/>
                          </a:solidFill>
                          <a:latin typeface="Segoe UI Symbol"/>
                        </a:rPr>
                        <a:t>!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+13.3%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CA30C"/>
                          </a:solidFill>
                          <a:latin typeface="Segoe UI Symbol"/>
                        </a:rPr>
                        <a:t>✓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+11.3%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8500"/>
                          </a:solidFill>
                          <a:latin typeface="Segoe UI Symbol"/>
                        </a:rPr>
                        <a:t>!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universal (state)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D1D1F"/>
                          </a:solidFill>
                          <a:latin typeface="Segoe UI Semibold"/>
                        </a:rPr>
                        <a:t>Sullivan, TN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8500"/>
                          </a:solidFill>
                          <a:latin typeface="Segoe UI Symbol"/>
                        </a:rPr>
                        <a:t>!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3.03  thin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8500"/>
                          </a:solidFill>
                          <a:latin typeface="Segoe UI Symbol"/>
                        </a:rPr>
                        <a:t>!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−6.4%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8500"/>
                          </a:solidFill>
                          <a:latin typeface="Segoe UI Symbol"/>
                        </a:rPr>
                        <a:t>!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+6.4%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CA30C"/>
                          </a:solidFill>
                          <a:latin typeface="Segoe UI Symbol"/>
                        </a:rPr>
                        <a:t>✓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+6.7%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CA30C"/>
                          </a:solidFill>
                          <a:latin typeface="Segoe UI Symbol"/>
                        </a:rPr>
                        <a:t>✓  </a:t>
                      </a:r>
                      <a:r>
                        <a:rPr sz="1000">
                          <a:solidFill>
                            <a:srgbClr val="1D1D1F"/>
                          </a:solidFill>
                          <a:latin typeface="Segoe UI"/>
                        </a:rPr>
                        <a:t>targeted only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cxnSp>
        <p:nvCxnSpPr>
          <p:cNvPr id="17" name="Connector 16"/>
          <p:cNvCxnSpPr/>
          <p:nvPr/>
        </p:nvCxnSpPr>
        <p:spPr>
          <a:xfrm>
            <a:off x="548640" y="2432304"/>
            <a:ext cx="7320076" cy="0"/>
          </a:xfrm>
          <a:prstGeom prst="line">
            <a:avLst/>
          </a:prstGeom>
          <a:ln w="9525">
            <a:solidFill>
              <a:srgbClr val="6E6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48640" y="3035808"/>
            <a:ext cx="7320076" cy="0"/>
          </a:xfrm>
          <a:prstGeom prst="line">
            <a:avLst/>
          </a:prstGeom>
          <a:ln w="635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8640" y="3337560"/>
            <a:ext cx="7320076" cy="0"/>
          </a:xfrm>
          <a:prstGeom prst="line">
            <a:avLst/>
          </a:prstGeom>
          <a:ln w="635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48640" y="3639312"/>
            <a:ext cx="7320076" cy="0"/>
          </a:xfrm>
          <a:prstGeom prst="line">
            <a:avLst/>
          </a:prstGeom>
          <a:ln w="635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48640" y="3941064"/>
            <a:ext cx="7320076" cy="0"/>
          </a:xfrm>
          <a:prstGeom prst="line">
            <a:avLst/>
          </a:prstGeom>
          <a:ln w="635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48640" y="4242816"/>
            <a:ext cx="7320076" cy="0"/>
          </a:xfrm>
          <a:prstGeom prst="line">
            <a:avLst/>
          </a:prstGeom>
          <a:ln w="635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48640" y="4544568"/>
            <a:ext cx="7320076" cy="0"/>
          </a:xfrm>
          <a:prstGeom prst="line">
            <a:avLst/>
          </a:prstGeom>
          <a:ln w="635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48640" y="4846320"/>
            <a:ext cx="7320076" cy="0"/>
          </a:xfrm>
          <a:prstGeom prst="line">
            <a:avLst/>
          </a:prstGeom>
          <a:ln w="635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48640" y="5148072"/>
            <a:ext cx="7320076" cy="0"/>
          </a:xfrm>
          <a:prstGeom prst="line">
            <a:avLst/>
          </a:prstGeom>
          <a:ln w="635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48640" y="5449824"/>
            <a:ext cx="7320076" cy="0"/>
          </a:xfrm>
          <a:prstGeom prst="line">
            <a:avLst/>
          </a:prstGeom>
          <a:ln w="635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8640" y="5751576"/>
            <a:ext cx="7320076" cy="0"/>
          </a:xfrm>
          <a:prstGeom prst="line">
            <a:avLst/>
          </a:prstGeom>
          <a:ln w="635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48640" y="6053328"/>
            <a:ext cx="7320076" cy="0"/>
          </a:xfrm>
          <a:prstGeom prst="line">
            <a:avLst/>
          </a:prstGeom>
          <a:ln w="635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097316" y="1828800"/>
            <a:ext cx="3545738" cy="2395728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98484" y="1984248"/>
            <a:ext cx="314340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6CD0"/>
                </a:solidFill>
                <a:latin typeface="Segoe UI Semibold"/>
              </a:rPr>
              <a:t>WHERE TO START: NORTHERN VIRGINIA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8484" y="2240280"/>
            <a:ext cx="314340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Segoe UI Semibold"/>
              </a:rPr>
              <a:t>Arlington, Alexandria, Loudoun, Fairfax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8484" y="2816352"/>
            <a:ext cx="314340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>
                <a:solidFill>
                  <a:srgbClr val="6E6E73"/>
                </a:solidFill>
                <a:latin typeface="Segoe UI"/>
              </a:rPr>
              <a:t>Lasting premiums of +30% to +61%, large care-need markets, at most one minor flag.</a:t>
            </a:r>
          </a:p>
          <a:p>
            <a:pPr algn="l">
              <a:lnSpc>
                <a:spcPct val="104000"/>
              </a:lnSpc>
            </a:pPr>
            <a:r>
              <a:rPr sz="950" b="0">
                <a:solidFill>
                  <a:srgbClr val="1D1D1F"/>
                </a:solidFill>
                <a:latin typeface="Segoe UI Semibold"/>
              </a:rPr>
              <a:t>One market, not four bets: </a:t>
            </a:r>
            <a:r>
              <a:rPr sz="950" b="0">
                <a:solidFill>
                  <a:srgbClr val="6E6E73"/>
                </a:solidFill>
                <a:latin typeface="Segoe UI"/>
              </a:rPr>
              <a:t>shared wage, labor market and state survey, so open one site first. Virginia’s last direct price surveys are from 2015 and 2018: check current prices locally.</a:t>
            </a:r>
          </a:p>
          <a:p>
            <a:pPr algn="l">
              <a:lnSpc>
                <a:spcPct val="104000"/>
              </a:lnSpc>
            </a:pPr>
            <a:r>
              <a:rPr sz="950" b="0">
                <a:solidFill>
                  <a:srgbClr val="6E6E73"/>
                </a:solidFill>
                <a:latin typeface="Segoe UI"/>
              </a:rPr>
              <a:t>Next in line: Olmsted and Howard.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7316" y="4453128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98484" y="4608576"/>
            <a:ext cx="314340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E6E73"/>
                </a:solidFill>
                <a:latin typeface="Segoe UI Semibold"/>
              </a:rPr>
              <a:t>NOT IN OUR DATA YET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8484" y="4882896"/>
            <a:ext cx="314340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6E6E73"/>
                </a:solidFill>
                <a:latin typeface="Segoe UI"/>
              </a:rPr>
              <a:t>•  Commercial rents and sites (we use residential rent)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6E6E73"/>
                </a:solidFill>
                <a:latin typeface="Segoe UI"/>
              </a:rPr>
              <a:t>•  Staff availability and turnover, not just average wages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6E6E73"/>
                </a:solidFill>
                <a:latin typeface="Segoe UI"/>
              </a:rPr>
              <a:t>•  Local licensing rules and quality mix of competitors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6E6E73"/>
                </a:solidFill>
                <a:latin typeface="Segoe UI"/>
              </a:rPr>
              <a:t>•  Remote work; federal job changes (DC area)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6E6E73"/>
                </a:solidFill>
                <a:latin typeface="Segoe UI"/>
              </a:rPr>
              <a:t>•  Price data: only 2–5 direct survey years per county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